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9" r:id="rId6"/>
    <p:sldId id="262" r:id="rId7"/>
    <p:sldId id="263" r:id="rId8"/>
    <p:sldId id="264" r:id="rId9"/>
    <p:sldId id="270" r:id="rId10"/>
    <p:sldId id="265" r:id="rId11"/>
    <p:sldId id="266" r:id="rId12"/>
    <p:sldId id="271" r:id="rId13"/>
    <p:sldId id="267" r:id="rId14"/>
    <p:sldId id="268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09784-E0F2-55DB-BF41-9F6A05EF1E45}" v="354" dt="2026-05-16T16:15:48.594"/>
    <p1510:client id="{998A65A4-CC14-BC6E-71D3-E1CA5E5E66BB}" v="80" dt="2026-05-17T20:16:58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rive.google.com/file/d/1y9eggug7QbPKou0hVWbTBR0KSBy1uIpD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457C-3C31-F07B-08A6-6D623C2B3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06400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4000" err="1"/>
              <a:t>Dubuko</a:t>
            </a:r>
            <a:r>
              <a:rPr lang="en-US" sz="4000"/>
              <a:t> </a:t>
            </a:r>
            <a:r>
              <a:rPr lang="en-US" sz="4000" err="1"/>
              <a:t>ucenje</a:t>
            </a:r>
            <a:r>
              <a:rPr lang="en-US" sz="4000"/>
              <a:t> - </a:t>
            </a:r>
            <a:r>
              <a:rPr lang="en-US" sz="4000" err="1"/>
              <a:t>projekat</a:t>
            </a:r>
            <a:br>
              <a:rPr lang="en-US" sz="4000"/>
            </a:br>
            <a:endParaRPr lang="en-US" sz="4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B6C839-2E3E-B9D4-5215-D1EAF043F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978667"/>
            <a:ext cx="8791575" cy="16557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000" err="1"/>
              <a:t>Predviđanje</a:t>
            </a:r>
            <a:r>
              <a:rPr lang="en-US" sz="3000"/>
              <a:t> </a:t>
            </a:r>
            <a:r>
              <a:rPr lang="en-US" sz="3000" err="1"/>
              <a:t>ugla</a:t>
            </a:r>
            <a:r>
              <a:rPr lang="en-US" sz="3000" dirty="0"/>
              <a:t> </a:t>
            </a:r>
            <a:r>
              <a:rPr lang="en-US" sz="3000" err="1"/>
              <a:t>upravljanja</a:t>
            </a:r>
            <a:r>
              <a:rPr lang="en-US" sz="3000" dirty="0"/>
              <a:t> </a:t>
            </a:r>
            <a:r>
              <a:rPr lang="en-US" sz="3000" err="1"/>
              <a:t>vozila</a:t>
            </a:r>
            <a:r>
              <a:rPr lang="en-US" sz="3000"/>
              <a:t> (</a:t>
            </a:r>
            <a:r>
              <a:rPr lang="en-US" sz="3000" err="1"/>
              <a:t>eng.</a:t>
            </a:r>
            <a:r>
              <a:rPr lang="en-US" sz="3000" dirty="0"/>
              <a:t> </a:t>
            </a:r>
            <a:r>
              <a:rPr lang="en-US" sz="3000"/>
              <a:t>steering angle) </a:t>
            </a:r>
            <a:r>
              <a:rPr lang="en-US" sz="3000" err="1"/>
              <a:t>i</a:t>
            </a:r>
            <a:r>
              <a:rPr lang="en-US" sz="3000" dirty="0"/>
              <a:t> </a:t>
            </a:r>
            <a:r>
              <a:rPr lang="en-US" sz="3000" err="1"/>
              <a:t>detektovanje</a:t>
            </a:r>
            <a:r>
              <a:rPr lang="en-US" sz="3000" dirty="0"/>
              <a:t> </a:t>
            </a:r>
            <a:r>
              <a:rPr lang="en-US" sz="3000" err="1"/>
              <a:t>promene</a:t>
            </a:r>
            <a:r>
              <a:rPr lang="en-US" sz="3000" dirty="0"/>
              <a:t> </a:t>
            </a:r>
            <a:r>
              <a:rPr lang="en-US" sz="3000" err="1"/>
              <a:t>trake</a:t>
            </a:r>
            <a:r>
              <a:rPr lang="en-US" sz="3000" dirty="0"/>
              <a:t> </a:t>
            </a:r>
            <a:r>
              <a:rPr lang="en-US" sz="3000"/>
              <a:t>(</a:t>
            </a:r>
            <a:r>
              <a:rPr lang="en-US" sz="3000" err="1"/>
              <a:t>eng.</a:t>
            </a:r>
            <a:r>
              <a:rPr lang="en-US" sz="3000" dirty="0"/>
              <a:t> lane change)</a:t>
            </a:r>
          </a:p>
        </p:txBody>
      </p:sp>
    </p:spTree>
    <p:extLst>
      <p:ext uri="{BB962C8B-B14F-4D97-AF65-F5344CB8AC3E}">
        <p14:creationId xmlns:p14="http://schemas.microsoft.com/office/powerpoint/2010/main" val="385450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6915-3DCC-77FC-AAC4-04F03F631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433" y="873448"/>
            <a:ext cx="9905999" cy="35417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Pored </a:t>
            </a:r>
            <a:r>
              <a:rPr lang="en-US" err="1"/>
              <a:t>redovnih</a:t>
            </a:r>
            <a:r>
              <a:rPr lang="en-US"/>
              <a:t> </a:t>
            </a:r>
            <a:r>
              <a:rPr lang="en-US" err="1"/>
              <a:t>instalacija</a:t>
            </a:r>
            <a:r>
              <a:rPr lang="en-US"/>
              <a:t> </a:t>
            </a:r>
            <a:r>
              <a:rPr lang="en-US" err="1"/>
              <a:t>programa</a:t>
            </a:r>
            <a:r>
              <a:rPr lang="en-US"/>
              <a:t> za </a:t>
            </a:r>
            <a:r>
              <a:rPr lang="en-US" err="1"/>
              <a:t>ve</a:t>
            </a:r>
            <a:r>
              <a:rPr lang="sr-Latn-RS"/>
              <a:t>ž</a:t>
            </a:r>
            <a:r>
              <a:rPr lang="en-US"/>
              <a:t>be </a:t>
            </a:r>
            <a:r>
              <a:rPr lang="en-US" err="1"/>
              <a:t>neophodno</a:t>
            </a:r>
            <a:r>
              <a:rPr lang="en-US"/>
              <a:t> je </a:t>
            </a:r>
            <a:r>
              <a:rPr lang="en-US" err="1"/>
              <a:t>instalirati</a:t>
            </a:r>
            <a:r>
              <a:rPr lang="en-US"/>
              <a:t> </a:t>
            </a:r>
            <a:r>
              <a:rPr lang="en-US" err="1"/>
              <a:t>navedeno</a:t>
            </a:r>
            <a:r>
              <a:rPr lang="en-US"/>
              <a:t> </a:t>
            </a:r>
            <a:r>
              <a:rPr lang="en-US" err="1"/>
              <a:t>ispod</a:t>
            </a:r>
            <a:r>
              <a:rPr lang="en-US"/>
              <a:t> </a:t>
            </a:r>
            <a:r>
              <a:rPr lang="en-US" err="1"/>
              <a:t>kako</a:t>
            </a:r>
            <a:r>
              <a:rPr lang="en-US"/>
              <a:t> bi se </a:t>
            </a:r>
            <a:r>
              <a:rPr lang="en-US" err="1"/>
              <a:t>pokrenuo</a:t>
            </a:r>
            <a:r>
              <a:rPr lang="en-US"/>
              <a:t> </a:t>
            </a:r>
            <a:r>
              <a:rPr lang="en-US" err="1"/>
              <a:t>projekat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    &gt;&gt; pip install </a:t>
            </a:r>
            <a:r>
              <a:rPr lang="en-US" err="1"/>
              <a:t>imageio</a:t>
            </a:r>
            <a:r>
              <a:rPr lang="en-US"/>
              <a:t>[</a:t>
            </a:r>
            <a:r>
              <a:rPr lang="en-US" err="1"/>
              <a:t>ffmpeg</a:t>
            </a:r>
            <a:r>
              <a:rPr lang="en-US"/>
              <a:t>]</a:t>
            </a:r>
            <a:endParaRPr lang="sr-Latn-RS"/>
          </a:p>
          <a:p>
            <a:pPr marL="0" indent="0">
              <a:buNone/>
            </a:pPr>
            <a:r>
              <a:rPr lang="en-US" err="1"/>
              <a:t>Projekat</a:t>
            </a:r>
            <a:r>
              <a:rPr lang="en-US"/>
              <a:t> je </a:t>
            </a:r>
            <a:r>
              <a:rPr lang="en-US" err="1"/>
              <a:t>dostupan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https://github.com/jglintic/duboko_ucenje</a:t>
            </a:r>
          </a:p>
          <a:p>
            <a:pPr marL="0" indent="0">
              <a:buNone/>
            </a:pPr>
            <a:r>
              <a:rPr lang="en-US"/>
              <a:t>- </a:t>
            </a:r>
            <a:r>
              <a:rPr lang="en-US" err="1"/>
              <a:t>Pokretan</a:t>
            </a:r>
            <a:r>
              <a:rPr lang="en-US"/>
              <a:t> je </a:t>
            </a:r>
            <a:r>
              <a:rPr lang="en-US" err="1"/>
              <a:t>na</a:t>
            </a:r>
            <a:r>
              <a:rPr lang="en-US"/>
              <a:t> Windows OS-u</a:t>
            </a:r>
          </a:p>
          <a:p>
            <a:pPr>
              <a:buFontTx/>
              <a:buChar char="-"/>
            </a:pPr>
            <a:r>
              <a:rPr lang="en-US" err="1"/>
              <a:t>Pokre</a:t>
            </a:r>
            <a:r>
              <a:rPr lang="sr-Latn-RS"/>
              <a:t>ć</a:t>
            </a:r>
            <a:r>
              <a:rPr lang="en-US"/>
              <a:t>e se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putanje</a:t>
            </a:r>
            <a:r>
              <a:rPr lang="en-US"/>
              <a:t> </a:t>
            </a:r>
            <a:r>
              <a:rPr lang="en-US" err="1"/>
              <a:t>gde</a:t>
            </a:r>
            <a:r>
              <a:rPr lang="en-US"/>
              <a:t> se </a:t>
            </a:r>
            <a:r>
              <a:rPr lang="en-US" err="1"/>
              <a:t>nalazi</a:t>
            </a:r>
            <a:endParaRPr lang="sr-Latn-RS"/>
          </a:p>
          <a:p>
            <a:pPr marL="0" indent="0">
              <a:buNone/>
            </a:pPr>
            <a:r>
              <a:rPr lang="en-US"/>
              <a:t> project.py </a:t>
            </a:r>
            <a:r>
              <a:rPr lang="en-US" err="1"/>
              <a:t>komandom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sr-Latn-RS"/>
              <a:t>  </a:t>
            </a:r>
            <a:r>
              <a:rPr lang="en-US"/>
              <a:t>  &gt;&gt; python project.py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128D3-C540-4549-5B25-E410DD2CA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324" y="2644305"/>
            <a:ext cx="5464317" cy="36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67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E55C-1360-C4A6-D54A-B0F2C135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BB2A-8F09-1453-529C-CF55BC910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Slike </a:t>
            </a:r>
            <a:r>
              <a:rPr lang="en-US" err="1">
                <a:ea typeface="+mn-lt"/>
                <a:cs typeface="+mn-lt"/>
              </a:rPr>
              <a:t>sa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prednje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kamere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Vrednosti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ugla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upravljanja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vozila</a:t>
            </a:r>
            <a:endParaRPr lang="en-US" err="1"/>
          </a:p>
          <a:p>
            <a:r>
              <a:rPr lang="en-US" err="1"/>
              <a:t>self_driving_dataset_jungle</a:t>
            </a:r>
          </a:p>
          <a:p>
            <a:endParaRPr lang="en-US"/>
          </a:p>
        </p:txBody>
      </p:sp>
      <p:pic>
        <p:nvPicPr>
          <p:cNvPr id="4" name="Picture 3" descr="A road with trees in the background&#10;&#10;AI-generated content may be incorrect.">
            <a:extLst>
              <a:ext uri="{FF2B5EF4-FFF2-40B4-BE49-F238E27FC236}">
                <a16:creationId xmlns:a16="http://schemas.microsoft.com/office/drawing/2014/main" id="{CDB3237C-4053-5DA5-E553-A91F057DA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12" y="3322499"/>
            <a:ext cx="5025081" cy="247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6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1207-A2C3-F55B-0871-09A42ABB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7221"/>
            <a:ext cx="9905998" cy="1313814"/>
          </a:xfrm>
        </p:spPr>
        <p:txBody>
          <a:bodyPr/>
          <a:lstStyle/>
          <a:p>
            <a:pPr algn="ctr"/>
            <a:r>
              <a:rPr lang="en-US" err="1"/>
              <a:t>ObRADA</a:t>
            </a:r>
            <a:r>
              <a:rPr lang="en-US"/>
              <a:t>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1EB8-353D-9763-8006-349E66272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980" y="1425704"/>
            <a:ext cx="11127310" cy="49009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>
                <a:ea typeface="+mn-lt"/>
                <a:cs typeface="+mn-lt"/>
              </a:rPr>
              <a:t>Učitavanje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podataka</a:t>
            </a:r>
            <a:r>
              <a:rPr lang="en-US" sz="2200" dirty="0">
                <a:ea typeface="+mn-lt"/>
                <a:cs typeface="+mn-lt"/>
              </a:rPr>
              <a:t>: 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  -</a:t>
            </a:r>
            <a:r>
              <a:rPr lang="en-US" sz="2200" dirty="0" err="1">
                <a:ea typeface="+mn-lt"/>
                <a:cs typeface="+mn-lt"/>
              </a:rPr>
              <a:t>učitavanje</a:t>
            </a:r>
            <a:r>
              <a:rPr lang="en-US" sz="2200" dirty="0">
                <a:ea typeface="+mn-lt"/>
                <a:cs typeface="+mn-lt"/>
              </a:rPr>
              <a:t> CSV </a:t>
            </a:r>
            <a:r>
              <a:rPr lang="en-US" sz="2200" dirty="0" err="1">
                <a:ea typeface="+mn-lt"/>
                <a:cs typeface="+mn-lt"/>
              </a:rPr>
              <a:t>fajla</a:t>
            </a:r>
            <a:r>
              <a:rPr lang="en-US" sz="2200" dirty="0">
                <a:ea typeface="+mn-lt"/>
                <a:cs typeface="+mn-lt"/>
              </a:rPr>
              <a:t> koji </a:t>
            </a:r>
            <a:r>
              <a:rPr lang="en-US" sz="2200" dirty="0" err="1">
                <a:ea typeface="+mn-lt"/>
                <a:cs typeface="+mn-lt"/>
              </a:rPr>
              <a:t>sadrži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putanje</a:t>
            </a:r>
            <a:r>
              <a:rPr lang="en-US" sz="2200" dirty="0">
                <a:ea typeface="+mn-lt"/>
                <a:cs typeface="+mn-lt"/>
              </a:rPr>
              <a:t> do </a:t>
            </a:r>
            <a:r>
              <a:rPr lang="en-US" sz="2200" dirty="0" err="1">
                <a:ea typeface="+mn-lt"/>
                <a:cs typeface="+mn-lt"/>
              </a:rPr>
              <a:t>slika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vrednosti</a:t>
            </a:r>
            <a:r>
              <a:rPr lang="en-US" sz="2200" dirty="0">
                <a:ea typeface="+mn-lt"/>
                <a:cs typeface="+mn-lt"/>
              </a:rPr>
              <a:t> steering angle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  -</a:t>
            </a:r>
            <a:r>
              <a:rPr lang="en-US" sz="2200" dirty="0" err="1">
                <a:ea typeface="+mn-lt"/>
                <a:cs typeface="+mn-lt"/>
              </a:rPr>
              <a:t>promena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apsolutnih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putanja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slika</a:t>
            </a:r>
            <a:r>
              <a:rPr lang="en-US" sz="2200" dirty="0">
                <a:ea typeface="+mn-lt"/>
                <a:cs typeface="+mn-lt"/>
              </a:rPr>
              <a:t> u </a:t>
            </a:r>
            <a:r>
              <a:rPr lang="en-US" sz="2200" dirty="0" err="1">
                <a:ea typeface="+mn-lt"/>
                <a:cs typeface="+mn-lt"/>
              </a:rPr>
              <a:t>relativne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putanje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  -</a:t>
            </a:r>
            <a:r>
              <a:rPr lang="en-US" sz="2200" dirty="0" err="1">
                <a:ea typeface="+mn-lt"/>
                <a:cs typeface="+mn-lt"/>
              </a:rPr>
              <a:t>učitavanje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slika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iz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foldera</a:t>
            </a:r>
            <a:r>
              <a:rPr lang="en-US" sz="2200" dirty="0">
                <a:ea typeface="+mn-lt"/>
                <a:cs typeface="+mn-lt"/>
              </a:rPr>
              <a:t> IMG</a:t>
            </a:r>
            <a:endParaRPr lang="en-US" sz="2200" dirty="0"/>
          </a:p>
          <a:p>
            <a:r>
              <a:rPr lang="en-US" sz="2200" dirty="0" err="1"/>
              <a:t>Priprema</a:t>
            </a:r>
            <a:r>
              <a:rPr lang="en-US" sz="2200" dirty="0"/>
              <a:t> </a:t>
            </a:r>
            <a:r>
              <a:rPr lang="en-US" sz="2200" dirty="0" err="1"/>
              <a:t>podataka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dirty="0"/>
              <a:t>  -</a:t>
            </a:r>
            <a:r>
              <a:rPr lang="en-US" sz="2200" dirty="0">
                <a:ea typeface="+mn-lt"/>
                <a:cs typeface="+mn-lt"/>
              </a:rPr>
              <a:t>crop </a:t>
            </a:r>
            <a:r>
              <a:rPr lang="en-US" sz="2200" dirty="0" err="1">
                <a:ea typeface="+mn-lt"/>
                <a:cs typeface="+mn-lt"/>
              </a:rPr>
              <a:t>slike</a:t>
            </a:r>
            <a:r>
              <a:rPr lang="en-US" sz="2200" dirty="0">
                <a:ea typeface="+mn-lt"/>
                <a:cs typeface="+mn-lt"/>
              </a:rPr>
              <a:t> – </a:t>
            </a:r>
            <a:r>
              <a:rPr lang="en-US" sz="2200" dirty="0" err="1">
                <a:ea typeface="+mn-lt"/>
                <a:cs typeface="+mn-lt"/>
              </a:rPr>
              <a:t>uklanjanje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neba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haube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vozila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  -</a:t>
            </a:r>
            <a:r>
              <a:rPr lang="en-US" sz="2200" dirty="0" err="1">
                <a:ea typeface="+mn-lt"/>
                <a:cs typeface="+mn-lt"/>
              </a:rPr>
              <a:t>promena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rezolucije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sa</a:t>
            </a:r>
            <a:r>
              <a:rPr lang="en-US" sz="2200" dirty="0">
                <a:ea typeface="+mn-lt"/>
                <a:cs typeface="+mn-lt"/>
              </a:rPr>
              <a:t> 160×320 → 66×200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  </a:t>
            </a:r>
            <a:r>
              <a:rPr lang="en-US" sz="2200" dirty="0">
                <a:ea typeface="+mn-lt"/>
                <a:cs typeface="+mn-lt"/>
              </a:rPr>
              <a:t>-</a:t>
            </a:r>
            <a:r>
              <a:rPr lang="en-US" sz="2200" dirty="0" err="1">
                <a:ea typeface="+mn-lt"/>
                <a:cs typeface="+mn-lt"/>
              </a:rPr>
              <a:t>normalizacija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piksela</a:t>
            </a:r>
            <a:r>
              <a:rPr lang="en-US" sz="2200" dirty="0">
                <a:ea typeface="+mn-lt"/>
                <a:cs typeface="+mn-lt"/>
              </a:rPr>
              <a:t> (</a:t>
            </a:r>
            <a:r>
              <a:rPr lang="en-US" sz="2200" dirty="0" err="1">
                <a:ea typeface="+mn-lt"/>
                <a:cs typeface="+mn-lt"/>
              </a:rPr>
              <a:t>opseg</a:t>
            </a:r>
            <a:r>
              <a:rPr lang="en-US" sz="2200" dirty="0">
                <a:ea typeface="+mn-lt"/>
                <a:cs typeface="+mn-lt"/>
              </a:rPr>
              <a:t> 0–255 → 0–1)</a:t>
            </a:r>
            <a:endParaRPr lang="en-US" sz="2200" dirty="0"/>
          </a:p>
          <a:p>
            <a:r>
              <a:rPr lang="en-US" sz="2200" dirty="0" err="1"/>
              <a:t>Podela</a:t>
            </a:r>
            <a:r>
              <a:rPr lang="en-US" sz="2200" dirty="0"/>
              <a:t> </a:t>
            </a:r>
            <a:r>
              <a:rPr lang="en-US" sz="2200" dirty="0" err="1"/>
              <a:t>slika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trening</a:t>
            </a:r>
            <a:r>
              <a:rPr lang="en-US" sz="2200" dirty="0"/>
              <a:t> </a:t>
            </a:r>
            <a:r>
              <a:rPr lang="en-US" sz="2200" dirty="0" err="1"/>
              <a:t>skup</a:t>
            </a:r>
            <a:r>
              <a:rPr lang="en-US" sz="2200" dirty="0"/>
              <a:t>( 80%) I test </a:t>
            </a:r>
            <a:r>
              <a:rPr lang="en-US" sz="2200" dirty="0" err="1"/>
              <a:t>skup</a:t>
            </a:r>
            <a:r>
              <a:rPr lang="en-US" sz="2200" dirty="0"/>
              <a:t> (20%)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1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E58B-CE22-2E53-231B-93DF8A1CC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005" y="405635"/>
            <a:ext cx="9905999" cy="39086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Za </a:t>
            </a:r>
            <a:r>
              <a:rPr lang="en-US" dirty="0" err="1">
                <a:ea typeface="+mn-lt"/>
                <a:cs typeface="+mn-lt"/>
              </a:rPr>
              <a:t>svaki</a:t>
            </a:r>
            <a:r>
              <a:rPr lang="en-US" dirty="0">
                <a:ea typeface="+mn-lt"/>
                <a:cs typeface="+mn-lt"/>
              </a:rPr>
              <a:t> red </a:t>
            </a:r>
            <a:r>
              <a:rPr lang="en-US" dirty="0" err="1">
                <a:ea typeface="+mn-lt"/>
                <a:cs typeface="+mn-lt"/>
              </a:rPr>
              <a:t>iz</a:t>
            </a:r>
            <a:r>
              <a:rPr lang="en-US" dirty="0">
                <a:ea typeface="+mn-lt"/>
                <a:cs typeface="+mn-lt"/>
              </a:rPr>
              <a:t> CSV </a:t>
            </a:r>
            <a:r>
              <a:rPr lang="en-US" dirty="0" err="1">
                <a:ea typeface="+mn-lt"/>
                <a:cs typeface="+mn-lt"/>
              </a:rPr>
              <a:t>fajla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učitava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centralne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kamere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primenjuje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funkcija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load_image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dodaje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niz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train_images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odgovarajući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upravljanja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dodaje</a:t>
            </a:r>
            <a:r>
              <a:rPr lang="en-US" dirty="0">
                <a:ea typeface="+mn-lt"/>
                <a:cs typeface="+mn-lt"/>
              </a:rPr>
              <a:t> se u </a:t>
            </a:r>
            <a:r>
              <a:rPr lang="en-US" dirty="0" err="1">
                <a:ea typeface="+mn-lt"/>
                <a:cs typeface="+mn-lt"/>
              </a:rPr>
              <a:t>train_angles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Podaci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zatim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konvertuju</a:t>
            </a:r>
            <a:r>
              <a:rPr lang="en-US" dirty="0">
                <a:ea typeface="+mn-lt"/>
                <a:cs typeface="+mn-lt"/>
              </a:rPr>
              <a:t> u NumPy </a:t>
            </a:r>
            <a:r>
              <a:rPr lang="en-US" dirty="0" err="1">
                <a:ea typeface="+mn-lt"/>
                <a:cs typeface="+mn-lt"/>
              </a:rPr>
              <a:t>nizove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radi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efikasnijeg</a:t>
            </a:r>
            <a:r>
              <a:rPr lang="en-US" dirty="0">
                <a:ea typeface="+mn-lt"/>
                <a:cs typeface="+mn-lt"/>
              </a:rPr>
              <a:t> rada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neuronskom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mrežom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91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A8CE-F662-72A7-96C5-1188E61BA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SEKVENCE SLIKA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3461-DBC0-8BC3-8BB6-3DE277D3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47892"/>
            <a:ext cx="9905999" cy="438609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Za model se </a:t>
            </a:r>
            <a:r>
              <a:rPr lang="en-US" dirty="0" err="1">
                <a:ea typeface="+mn-lt"/>
                <a:cs typeface="+mn-lt"/>
              </a:rPr>
              <a:t>koristi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umesto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pojedinačne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sekvenca</a:t>
            </a:r>
            <a:r>
              <a:rPr lang="en-US" dirty="0">
                <a:ea typeface="+mn-lt"/>
                <a:cs typeface="+mn-lt"/>
              </a:rPr>
              <a:t> = 5 </a:t>
            </a:r>
            <a:r>
              <a:rPr lang="en-US" dirty="0" err="1">
                <a:ea typeface="+mn-lt"/>
                <a:cs typeface="+mn-lt"/>
              </a:rPr>
              <a:t>uzastopnih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frejmova</a:t>
            </a:r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dobija</a:t>
            </a:r>
            <a:r>
              <a:rPr lang="en-US" dirty="0"/>
              <a:t> </a:t>
            </a:r>
            <a:r>
              <a:rPr lang="en-US" dirty="0" err="1"/>
              <a:t>vremenski</a:t>
            </a:r>
            <a:r>
              <a:rPr lang="en-US" dirty="0"/>
              <a:t> </a:t>
            </a:r>
            <a:r>
              <a:rPr lang="en-US" dirty="0" err="1"/>
              <a:t>kontekst</a:t>
            </a:r>
            <a:r>
              <a:rPr lang="en-US" dirty="0"/>
              <a:t> I </a:t>
            </a:r>
            <a:r>
              <a:rPr lang="en-US" dirty="0" err="1"/>
              <a:t>omoguava</a:t>
            </a:r>
            <a:r>
              <a:rPr lang="en-US" dirty="0"/>
              <a:t> </a:t>
            </a:r>
            <a:r>
              <a:rPr lang="en-US" dirty="0" err="1"/>
              <a:t>predviđanje</a:t>
            </a:r>
            <a:r>
              <a:rPr lang="en-US" dirty="0"/>
              <a:t> </a:t>
            </a:r>
            <a:r>
              <a:rPr lang="en-US" dirty="0" err="1"/>
              <a:t>kretanja</a:t>
            </a:r>
            <a:r>
              <a:rPr lang="en-US" dirty="0"/>
              <a:t> </a:t>
            </a:r>
            <a:r>
              <a:rPr lang="en-US" dirty="0" err="1"/>
              <a:t>vozila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train_images_seq</a:t>
            </a:r>
            <a:r>
              <a:rPr lang="en-US" dirty="0">
                <a:ea typeface="+mn-lt"/>
                <a:cs typeface="+mn-lt"/>
              </a:rPr>
              <a:t> shape: (</a:t>
            </a:r>
            <a:r>
              <a:rPr lang="en-US" dirty="0" err="1">
                <a:ea typeface="+mn-lt"/>
                <a:cs typeface="+mn-lt"/>
              </a:rPr>
              <a:t>broj_sekvenci</a:t>
            </a:r>
            <a:r>
              <a:rPr lang="en-US" dirty="0">
                <a:ea typeface="+mn-lt"/>
                <a:cs typeface="+mn-lt"/>
              </a:rPr>
              <a:t>, 5, 66, 200, 3)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5 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frejmova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sekvenci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66×200×3 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dimenzije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Ovaj</a:t>
            </a:r>
            <a:r>
              <a:rPr lang="en-US" dirty="0">
                <a:ea typeface="+mn-lt"/>
                <a:cs typeface="+mn-lt"/>
              </a:rPr>
              <a:t> format </a:t>
            </a:r>
            <a:r>
              <a:rPr lang="en-US" dirty="0" err="1">
                <a:ea typeface="+mn-lt"/>
                <a:cs typeface="+mn-lt"/>
              </a:rPr>
              <a:t>omogućava</a:t>
            </a:r>
            <a:r>
              <a:rPr lang="en-US" dirty="0">
                <a:ea typeface="+mn-lt"/>
                <a:cs typeface="+mn-lt"/>
              </a:rPr>
              <a:t> da CNN </a:t>
            </a:r>
            <a:r>
              <a:rPr lang="en-US" dirty="0" err="1">
                <a:ea typeface="+mn-lt"/>
                <a:cs typeface="+mn-lt"/>
              </a:rPr>
              <a:t>obradi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svaku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sliku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da LSTM da </a:t>
            </a:r>
            <a:r>
              <a:rPr lang="en-US" dirty="0" err="1">
                <a:ea typeface="+mn-lt"/>
                <a:cs typeface="+mn-lt"/>
              </a:rPr>
              <a:t>obradi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karakteristika</a:t>
            </a:r>
            <a:endParaRPr lang="en-US" dirty="0" err="1"/>
          </a:p>
          <a:p>
            <a:endParaRPr lang="en-US" dirty="0"/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8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7FD80-AD1B-B0EE-1FDB-26CE93CD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CNN + LSTM </a:t>
            </a:r>
            <a:r>
              <a:rPr lang="en-US" err="1">
                <a:ea typeface="+mj-lt"/>
                <a:cs typeface="+mj-lt"/>
              </a:rPr>
              <a:t>arhitektura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66A4-92D7-468B-1817-CFC7D9EC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523" y="2183635"/>
            <a:ext cx="6001925" cy="28455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CNN (Convolutional Neural Network): </a:t>
            </a:r>
          </a:p>
          <a:p>
            <a:r>
              <a:rPr lang="en-US" err="1">
                <a:ea typeface="+mn-lt"/>
                <a:cs typeface="+mn-lt"/>
              </a:rPr>
              <a:t>izdvajanje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karakteristika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iz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slike</a:t>
            </a:r>
            <a:endParaRPr lang="en-US" err="1"/>
          </a:p>
          <a:p>
            <a:r>
              <a:rPr lang="en-US" err="1"/>
              <a:t>prepoznavanje</a:t>
            </a:r>
            <a:r>
              <a:rPr lang="en-US"/>
              <a:t> </a:t>
            </a:r>
            <a:r>
              <a:rPr lang="en-US" err="1"/>
              <a:t>linija</a:t>
            </a:r>
            <a:r>
              <a:rPr lang="en-US"/>
              <a:t> puta, </a:t>
            </a:r>
            <a:r>
              <a:rPr lang="en-US" err="1"/>
              <a:t>ivica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tekstura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E36B7-199D-4ED7-5E13-9C6B2916C96B}"/>
              </a:ext>
            </a:extLst>
          </p:cNvPr>
          <p:cNvSpPr txBox="1"/>
          <p:nvPr/>
        </p:nvSpPr>
        <p:spPr>
          <a:xfrm>
            <a:off x="6668072" y="2185188"/>
            <a:ext cx="468527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LSTM (Long Short-Term Memory):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obrada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sekvencijalnih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podataka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koristi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informacije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prethodnih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frejmova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analizira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niz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frejmova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kroz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vreme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omogućava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modelu</a:t>
            </a:r>
            <a:r>
              <a:rPr lang="en-US" sz="2400" dirty="0">
                <a:ea typeface="+mn-lt"/>
                <a:cs typeface="+mn-lt"/>
              </a:rPr>
              <a:t> da </a:t>
            </a:r>
            <a:r>
              <a:rPr lang="en-US" sz="2400" dirty="0" err="1">
                <a:ea typeface="+mn-lt"/>
                <a:cs typeface="+mn-lt"/>
              </a:rPr>
              <a:t>prepozna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kretanje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vozila</a:t>
            </a:r>
            <a:endParaRPr lang="en-US" sz="2400" dirty="0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07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29EF-476D-7FF5-2B1D-5DC79604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5196E-365E-CECF-4F8A-473945165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83" y="1917558"/>
            <a:ext cx="5048980" cy="22094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CNN deo:</a:t>
            </a:r>
            <a:endParaRPr lang="en-US" sz="2200"/>
          </a:p>
          <a:p>
            <a:r>
              <a:rPr lang="en-US" sz="2200" dirty="0">
                <a:ea typeface="+mn-lt"/>
                <a:cs typeface="+mn-lt"/>
              </a:rPr>
              <a:t>5 </a:t>
            </a:r>
            <a:r>
              <a:rPr lang="en-US" sz="2200" dirty="0" err="1">
                <a:ea typeface="+mn-lt"/>
                <a:cs typeface="+mn-lt"/>
              </a:rPr>
              <a:t>konvolucionih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slojeva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Batch Normalization</a:t>
            </a:r>
            <a:endParaRPr lang="en-US" sz="2200"/>
          </a:p>
          <a:p>
            <a:r>
              <a:rPr lang="en-US" sz="2200" dirty="0" err="1">
                <a:ea typeface="+mn-lt"/>
                <a:cs typeface="+mn-lt"/>
              </a:rPr>
              <a:t>ReLU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aktivacija</a:t>
            </a:r>
            <a:endParaRPr lang="en-US" sz="2200"/>
          </a:p>
          <a:p>
            <a:r>
              <a:rPr lang="en-US" sz="2200" dirty="0" err="1">
                <a:ea typeface="+mn-lt"/>
                <a:cs typeface="+mn-lt"/>
              </a:rPr>
              <a:t>Primenjuje</a:t>
            </a:r>
            <a:r>
              <a:rPr lang="en-US" sz="2200" dirty="0">
                <a:ea typeface="+mn-lt"/>
                <a:cs typeface="+mn-lt"/>
              </a:rPr>
              <a:t> se  </a:t>
            </a:r>
            <a:r>
              <a:rPr lang="en-US" sz="2200" dirty="0" err="1">
                <a:ea typeface="+mn-lt"/>
                <a:cs typeface="+mn-lt"/>
              </a:rPr>
              <a:t>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svaki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frejm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sekvence</a:t>
            </a:r>
            <a:r>
              <a:rPr lang="en-US" sz="2200" dirty="0">
                <a:ea typeface="+mn-lt"/>
                <a:cs typeface="+mn-lt"/>
              </a:rPr>
              <a:t> </a:t>
            </a:r>
            <a:endParaRPr lang="en-US" sz="220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BD0E9-C515-585F-31E3-30332CE8F348}"/>
              </a:ext>
            </a:extLst>
          </p:cNvPr>
          <p:cNvSpPr txBox="1"/>
          <p:nvPr/>
        </p:nvSpPr>
        <p:spPr>
          <a:xfrm>
            <a:off x="7158909" y="1822620"/>
            <a:ext cx="468526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ea typeface="+mn-lt"/>
                <a:cs typeface="+mn-lt"/>
              </a:rPr>
              <a:t>Sekvencijalni</a:t>
            </a:r>
            <a:r>
              <a:rPr lang="en-US" sz="2400" dirty="0">
                <a:ea typeface="+mn-lt"/>
                <a:cs typeface="+mn-lt"/>
              </a:rPr>
              <a:t> deo: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LSTM </a:t>
            </a:r>
            <a:r>
              <a:rPr lang="en-US" sz="2400" dirty="0" err="1">
                <a:ea typeface="+mn-lt"/>
                <a:cs typeface="+mn-lt"/>
              </a:rPr>
              <a:t>sloj</a:t>
            </a:r>
            <a:r>
              <a:rPr lang="en-US" sz="2400" dirty="0">
                <a:ea typeface="+mn-lt"/>
                <a:cs typeface="+mn-lt"/>
              </a:rPr>
              <a:t> (64 </a:t>
            </a:r>
            <a:r>
              <a:rPr lang="en-US" sz="2400" dirty="0" err="1">
                <a:ea typeface="+mn-lt"/>
                <a:cs typeface="+mn-lt"/>
              </a:rPr>
              <a:t>neurona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/>
              <a:t>Analizira</a:t>
            </a:r>
            <a:r>
              <a:rPr lang="en-US" sz="2400" dirty="0"/>
              <a:t> </a:t>
            </a:r>
            <a:r>
              <a:rPr lang="en-US" sz="2400" dirty="0" err="1"/>
              <a:t>vremensku</a:t>
            </a:r>
            <a:r>
              <a:rPr lang="en-US" sz="2400" dirty="0"/>
              <a:t> </a:t>
            </a:r>
            <a:r>
              <a:rPr lang="en-US" sz="2400" dirty="0" err="1"/>
              <a:t>zavisnost</a:t>
            </a:r>
            <a:r>
              <a:rPr lang="en-US" sz="2400" dirty="0"/>
              <a:t> </a:t>
            </a:r>
            <a:r>
              <a:rPr lang="en-US" sz="2400" dirty="0" err="1"/>
              <a:t>između</a:t>
            </a:r>
            <a:r>
              <a:rPr lang="en-US" sz="2400" dirty="0"/>
              <a:t> </a:t>
            </a:r>
            <a:r>
              <a:rPr lang="en-US" sz="2400" dirty="0" err="1"/>
              <a:t>frejmova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DC65-5E88-B1E3-0B8B-AC6723779BD9}"/>
              </a:ext>
            </a:extLst>
          </p:cNvPr>
          <p:cNvSpPr txBox="1"/>
          <p:nvPr/>
        </p:nvSpPr>
        <p:spPr>
          <a:xfrm>
            <a:off x="549314" y="5198356"/>
            <a:ext cx="513326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Loss </a:t>
            </a:r>
            <a:r>
              <a:rPr lang="en-US" sz="2400" dirty="0" err="1">
                <a:ea typeface="+mn-lt"/>
                <a:cs typeface="+mn-lt"/>
              </a:rPr>
              <a:t>funkcija</a:t>
            </a:r>
            <a:r>
              <a:rPr lang="en-US" sz="2400" dirty="0">
                <a:ea typeface="+mn-lt"/>
                <a:cs typeface="+mn-lt"/>
              </a:rPr>
              <a:t>: Mean Squared Error (MSE)</a:t>
            </a:r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D9D8D-815D-E9E2-BA7A-7ABAEB9887FD}"/>
              </a:ext>
            </a:extLst>
          </p:cNvPr>
          <p:cNvSpPr txBox="1"/>
          <p:nvPr/>
        </p:nvSpPr>
        <p:spPr>
          <a:xfrm>
            <a:off x="7162214" y="5197973"/>
            <a:ext cx="261551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Optimizer: Adam</a:t>
            </a:r>
            <a:endParaRPr lang="en-US" sz="2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39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EE65-EC39-81E3-6148-AC75F871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 MODEL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E5A6-30F6-7C31-54BD-2B4CD052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034" y="2249487"/>
            <a:ext cx="5776783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/>
              <a:t>Fully connected deo: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  - Dense </a:t>
            </a:r>
            <a:r>
              <a:rPr lang="en-US" dirty="0" err="1"/>
              <a:t>slojevi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  - Dropout za </a:t>
            </a:r>
            <a:r>
              <a:rPr lang="en-US" dirty="0" err="1"/>
              <a:t>smanjenje</a:t>
            </a:r>
            <a:r>
              <a:rPr lang="en-US" dirty="0"/>
              <a:t> </a:t>
            </a:r>
            <a:r>
              <a:rPr lang="en-US" dirty="0" err="1"/>
              <a:t>overfittinga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Model </a:t>
            </a:r>
            <a:r>
              <a:rPr lang="en-US" dirty="0" err="1"/>
              <a:t>predviđa</a:t>
            </a:r>
            <a:r>
              <a:rPr lang="en-US" dirty="0"/>
              <a:t> steering angle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ED46C-C46E-2536-F4E2-885C97DB780D}"/>
              </a:ext>
            </a:extLst>
          </p:cNvPr>
          <p:cNvSpPr txBox="1"/>
          <p:nvPr/>
        </p:nvSpPr>
        <p:spPr>
          <a:xfrm>
            <a:off x="6631459" y="2100649"/>
            <a:ext cx="497771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/>
              <a:t>Parametri</a:t>
            </a:r>
            <a:r>
              <a:rPr lang="en-US" sz="2400" dirty="0"/>
              <a:t> </a:t>
            </a:r>
            <a:r>
              <a:rPr lang="en-US" sz="2400" dirty="0" err="1"/>
              <a:t>treniranja</a:t>
            </a:r>
            <a:r>
              <a:rPr lang="en-US" sz="2400" dirty="0"/>
              <a:t>:</a:t>
            </a:r>
          </a:p>
          <a:p>
            <a:r>
              <a:rPr lang="en-US" sz="2400"/>
              <a:t>  - Optimizer: Adam</a:t>
            </a:r>
            <a:endParaRPr lang="en-US" sz="2400" dirty="0"/>
          </a:p>
          <a:p>
            <a:r>
              <a:rPr lang="en-US" sz="2400"/>
              <a:t>  - Learning rate: 0.0001</a:t>
            </a:r>
          </a:p>
          <a:p>
            <a:r>
              <a:rPr lang="en-US" sz="2400" dirty="0"/>
              <a:t>  - Loss </a:t>
            </a:r>
            <a:r>
              <a:rPr lang="en-US" sz="2400" dirty="0" err="1"/>
              <a:t>funkcija</a:t>
            </a:r>
            <a:r>
              <a:rPr lang="en-US" sz="2400" dirty="0"/>
              <a:t>: Mean Squared Error (MSE)</a:t>
            </a:r>
          </a:p>
          <a:p>
            <a:r>
              <a:rPr lang="en-US" sz="2400" dirty="0"/>
              <a:t>   - </a:t>
            </a:r>
            <a:r>
              <a:rPr lang="en-US" sz="2400" dirty="0" err="1"/>
              <a:t>Metrička</a:t>
            </a:r>
            <a:r>
              <a:rPr lang="en-US" sz="2400" dirty="0"/>
              <a:t> </a:t>
            </a:r>
            <a:r>
              <a:rPr lang="en-US" sz="2400" dirty="0" err="1"/>
              <a:t>funkcija</a:t>
            </a:r>
            <a:r>
              <a:rPr lang="en-US" sz="2400" dirty="0"/>
              <a:t>: Mean Absolute Error (MAE)</a:t>
            </a:r>
          </a:p>
        </p:txBody>
      </p:sp>
    </p:spTree>
    <p:extLst>
      <p:ext uri="{BB962C8B-B14F-4D97-AF65-F5344CB8AC3E}">
        <p14:creationId xmlns:p14="http://schemas.microsoft.com/office/powerpoint/2010/main" val="158482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1466-6483-C639-10FC-52865A80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Određivanje</a:t>
            </a:r>
            <a:r>
              <a:rPr lang="en-US" dirty="0"/>
              <a:t> </a:t>
            </a:r>
            <a:r>
              <a:rPr lang="en-US" dirty="0" err="1"/>
              <a:t>ugla</a:t>
            </a:r>
            <a:r>
              <a:rPr lang="en-US" dirty="0"/>
              <a:t> </a:t>
            </a:r>
            <a:r>
              <a:rPr lang="en-US" dirty="0" err="1"/>
              <a:t>upravljanja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774F7-92C4-6245-6927-3C7D6FBF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2845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Model </a:t>
            </a:r>
            <a:r>
              <a:rPr lang="en-US" dirty="0" err="1">
                <a:ea typeface="+mn-lt"/>
                <a:cs typeface="+mn-lt"/>
              </a:rPr>
              <a:t>predviđa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b="1" dirty="0">
                <a:ea typeface="+mn-lt"/>
                <a:cs typeface="+mn-lt"/>
              </a:rPr>
              <a:t>Steering Angle ∈ [-1, 1]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iscrtava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slici</a:t>
            </a: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prikazuje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linija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kretanja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vozila</a:t>
            </a:r>
            <a:endParaRPr lang="en-US" b="1" dirty="0" err="1"/>
          </a:p>
          <a:p>
            <a:r>
              <a:rPr lang="en-US" b="1" dirty="0" err="1">
                <a:ea typeface="+mn-lt"/>
                <a:cs typeface="+mn-lt"/>
              </a:rPr>
              <a:t>Izlaz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modela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-</a:t>
            </a:r>
            <a:r>
              <a:rPr lang="en-US" dirty="0" err="1">
                <a:ea typeface="+mn-lt"/>
                <a:cs typeface="+mn-lt"/>
              </a:rPr>
              <a:t>jedna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vrednost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-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steering angle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Interpretacija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-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≈ 0 →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ide </a:t>
            </a:r>
            <a:r>
              <a:rPr lang="en-US" dirty="0" err="1">
                <a:ea typeface="+mn-lt"/>
                <a:cs typeface="+mn-lt"/>
              </a:rPr>
              <a:t>pravo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-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&gt; 0 → </a:t>
            </a:r>
            <a:r>
              <a:rPr lang="en-US" dirty="0" err="1">
                <a:ea typeface="+mn-lt"/>
                <a:cs typeface="+mn-lt"/>
              </a:rPr>
              <a:t>skretanje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ulevo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- </a:t>
            </a:r>
            <a:r>
              <a:rPr lang="en-US" dirty="0" err="1">
                <a:ea typeface="+mn-lt"/>
                <a:cs typeface="+mn-lt"/>
              </a:rPr>
              <a:t>ugao</a:t>
            </a:r>
            <a:r>
              <a:rPr lang="en-US" dirty="0">
                <a:ea typeface="+mn-lt"/>
                <a:cs typeface="+mn-lt"/>
              </a:rPr>
              <a:t> &lt; 0 → </a:t>
            </a:r>
            <a:r>
              <a:rPr lang="en-US" dirty="0" err="1">
                <a:ea typeface="+mn-lt"/>
                <a:cs typeface="+mn-lt"/>
              </a:rPr>
              <a:t>skretanje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udesno</a:t>
            </a:r>
            <a:endParaRPr lang="en-US" dirty="0" err="1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14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9EC9-E6DB-8720-CA37-67EA53CA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ea typeface="+mj-lt"/>
                <a:cs typeface="+mj-lt"/>
              </a:rPr>
              <a:t>Detekcija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promene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trake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5D73-ED30-700E-2615-796BF28CB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4" y="1872428"/>
            <a:ext cx="6724134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dirty="0" err="1">
                <a:ea typeface="+mn-lt"/>
                <a:cs typeface="+mn-lt"/>
              </a:rPr>
              <a:t>Filtriranje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signala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primenjuje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i="1" dirty="0">
                <a:ea typeface="+mn-lt"/>
                <a:cs typeface="+mn-lt"/>
              </a:rPr>
              <a:t>moving average smoothing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</a:t>
            </a:r>
            <a:r>
              <a:rPr lang="en-US" dirty="0" err="1">
                <a:ea typeface="+mn-lt"/>
                <a:cs typeface="+mn-lt"/>
              </a:rPr>
              <a:t>smanjuje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šum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predikcijama</a:t>
            </a:r>
          </a:p>
          <a:p>
            <a:pPr marL="342900" indent="-342900"/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Definisanje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pragova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center threshold –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ide </a:t>
            </a:r>
            <a:r>
              <a:rPr lang="en-US" dirty="0" err="1">
                <a:ea typeface="+mn-lt"/>
                <a:cs typeface="+mn-lt"/>
              </a:rPr>
              <a:t>pravo</a:t>
            </a:r>
            <a:endParaRPr lang="en-US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- lane threshold – </a:t>
            </a:r>
            <a:r>
              <a:rPr lang="en-US" dirty="0" err="1">
                <a:ea typeface="+mn-lt"/>
                <a:cs typeface="+mn-lt"/>
              </a:rPr>
              <a:t>vozilo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započinje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trake</a:t>
            </a:r>
            <a:endParaRPr lang="en-US" dirty="0" err="1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79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D4F6-695F-BD88-9B93-8DF52476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DETEKCIJA PROMENE TRAKE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B6DB-578D-CD9B-EAA2-5CFD2237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3" y="1538974"/>
            <a:ext cx="9905999" cy="35417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Na </a:t>
            </a:r>
            <a:r>
              <a:rPr lang="en-US" sz="2200" dirty="0" err="1">
                <a:ea typeface="+mn-lt"/>
                <a:cs typeface="+mn-lt"/>
              </a:rPr>
              <a:t>osnovu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ugla</a:t>
            </a:r>
            <a:r>
              <a:rPr lang="en-US" sz="2200" dirty="0">
                <a:ea typeface="+mn-lt"/>
                <a:cs typeface="+mn-lt"/>
              </a:rPr>
              <a:t>:</a:t>
            </a:r>
            <a:endParaRPr lang="en-US" sz="220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  -|angle| &lt; </a:t>
            </a:r>
            <a:r>
              <a:rPr lang="en-US" sz="2200" dirty="0" err="1">
                <a:ea typeface="+mn-lt"/>
                <a:cs typeface="+mn-lt"/>
              </a:rPr>
              <a:t>center_threshold</a:t>
            </a:r>
            <a:r>
              <a:rPr lang="en-US" sz="2200" dirty="0">
                <a:ea typeface="+mn-lt"/>
                <a:cs typeface="+mn-lt"/>
              </a:rPr>
              <a:t> → CENTER</a:t>
            </a:r>
            <a:endParaRPr lang="en-US" sz="220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  - angle &gt; </a:t>
            </a:r>
            <a:r>
              <a:rPr lang="en-US" sz="2200" dirty="0" err="1">
                <a:ea typeface="+mn-lt"/>
                <a:cs typeface="+mn-lt"/>
              </a:rPr>
              <a:t>lane_threshold</a:t>
            </a:r>
            <a:r>
              <a:rPr lang="en-US" sz="2200" dirty="0">
                <a:ea typeface="+mn-lt"/>
                <a:cs typeface="+mn-lt"/>
              </a:rPr>
              <a:t> → LEFT lane change</a:t>
            </a:r>
            <a:endParaRPr lang="en-US" sz="2200"/>
          </a:p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  - angle &lt; -</a:t>
            </a:r>
            <a:r>
              <a:rPr lang="en-US" sz="2200" dirty="0" err="1">
                <a:ea typeface="+mn-lt"/>
                <a:cs typeface="+mn-lt"/>
              </a:rPr>
              <a:t>lane_threshold</a:t>
            </a:r>
            <a:r>
              <a:rPr lang="en-US" sz="2200" dirty="0">
                <a:ea typeface="+mn-lt"/>
                <a:cs typeface="+mn-lt"/>
              </a:rPr>
              <a:t> → RIGHT lane change</a:t>
            </a:r>
            <a:endParaRPr lang="en-US" sz="2200"/>
          </a:p>
          <a:p>
            <a:endParaRPr lang="en-US" sz="2200" dirty="0"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Da bi se </a:t>
            </a:r>
            <a:r>
              <a:rPr lang="en-US" sz="2200" err="1">
                <a:ea typeface="+mn-lt"/>
                <a:cs typeface="+mn-lt"/>
              </a:rPr>
              <a:t>izbegle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lažne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detekcije</a:t>
            </a:r>
            <a:r>
              <a:rPr lang="en-US" sz="2200" dirty="0">
                <a:ea typeface="+mn-lt"/>
                <a:cs typeface="+mn-lt"/>
              </a:rPr>
              <a:t> signal mora </a:t>
            </a:r>
            <a:r>
              <a:rPr lang="en-US" sz="2200" err="1">
                <a:ea typeface="+mn-lt"/>
                <a:cs typeface="+mn-lt"/>
              </a:rPr>
              <a:t>trajati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više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frejmova</a:t>
            </a:r>
            <a:endParaRPr lang="en-US" sz="2200"/>
          </a:p>
          <a:p>
            <a:r>
              <a:rPr lang="en-US" sz="2200" dirty="0" err="1">
                <a:ea typeface="+mn-lt"/>
                <a:cs typeface="+mn-lt"/>
              </a:rPr>
              <a:t>Rezultat</a:t>
            </a:r>
            <a:r>
              <a:rPr lang="en-US" sz="2200" dirty="0">
                <a:ea typeface="+mn-lt"/>
                <a:cs typeface="+mn-lt"/>
              </a:rPr>
              <a:t>: </a:t>
            </a:r>
            <a:r>
              <a:rPr lang="en-US" sz="2200" dirty="0" err="1">
                <a:ea typeface="+mn-lt"/>
                <a:cs typeface="+mn-lt"/>
              </a:rPr>
              <a:t>ako</a:t>
            </a:r>
            <a:r>
              <a:rPr lang="en-US" sz="2200" dirty="0">
                <a:ea typeface="+mn-lt"/>
                <a:cs typeface="+mn-lt"/>
              </a:rPr>
              <a:t> se </a:t>
            </a:r>
            <a:r>
              <a:rPr lang="en-US" sz="2200" dirty="0" err="1">
                <a:ea typeface="+mn-lt"/>
                <a:cs typeface="+mn-lt"/>
              </a:rPr>
              <a:t>detektuje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promena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trake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prikazuje</a:t>
            </a:r>
            <a:r>
              <a:rPr lang="en-US" sz="2200" dirty="0">
                <a:ea typeface="+mn-lt"/>
                <a:cs typeface="+mn-lt"/>
              </a:rPr>
              <a:t> se </a:t>
            </a:r>
            <a:r>
              <a:rPr lang="en-US" sz="2200" dirty="0" err="1">
                <a:ea typeface="+mn-lt"/>
                <a:cs typeface="+mn-lt"/>
              </a:rPr>
              <a:t>upozorenje</a:t>
            </a:r>
            <a:r>
              <a:rPr lang="en-US" sz="2200" dirty="0">
                <a:ea typeface="+mn-lt"/>
                <a:cs typeface="+mn-lt"/>
              </a:rPr>
              <a:t> LANE CHANGE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79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A509-33E7-6450-9C56-AD46546B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GENERISANJE VIDEO SNIMKA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F4F5-5F09-9EFB-37D2-53EDF7972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Na </a:t>
            </a:r>
            <a:r>
              <a:rPr lang="en-US" dirty="0" err="1">
                <a:ea typeface="+mn-lt"/>
                <a:cs typeface="+mn-lt"/>
              </a:rPr>
              <a:t>kraju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generiše</a:t>
            </a:r>
            <a:r>
              <a:rPr lang="en-US" dirty="0">
                <a:ea typeface="+mn-lt"/>
                <a:cs typeface="+mn-lt"/>
              </a:rPr>
              <a:t> video </a:t>
            </a:r>
            <a:r>
              <a:rPr lang="en-US" dirty="0" err="1">
                <a:ea typeface="+mn-lt"/>
                <a:cs typeface="+mn-lt"/>
              </a:rPr>
              <a:t>snimak</a:t>
            </a:r>
            <a:r>
              <a:rPr lang="en-US" dirty="0">
                <a:ea typeface="+mn-lt"/>
                <a:cs typeface="+mn-lt"/>
              </a:rPr>
              <a:t> koji </a:t>
            </a:r>
            <a:r>
              <a:rPr lang="en-US" dirty="0" err="1">
                <a:ea typeface="+mn-lt"/>
                <a:cs typeface="+mn-lt"/>
              </a:rPr>
              <a:t>sadrži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</a:t>
            </a:r>
            <a:r>
              <a:rPr lang="en-US" dirty="0" err="1">
                <a:ea typeface="+mn-lt"/>
                <a:cs typeface="+mn-lt"/>
              </a:rPr>
              <a:t>originalne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slike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</a:t>
            </a:r>
            <a:r>
              <a:rPr lang="en-US" dirty="0" err="1">
                <a:ea typeface="+mn-lt"/>
                <a:cs typeface="+mn-lt"/>
              </a:rPr>
              <a:t>predviđeni</a:t>
            </a:r>
            <a:r>
              <a:rPr lang="en-US" dirty="0">
                <a:ea typeface="+mn-lt"/>
                <a:cs typeface="+mn-lt"/>
              </a:rPr>
              <a:t> steering angle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</a:t>
            </a:r>
            <a:r>
              <a:rPr lang="en-US" dirty="0" err="1">
                <a:ea typeface="+mn-lt"/>
                <a:cs typeface="+mn-lt"/>
              </a:rPr>
              <a:t>upozorenje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promenu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trake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Video se </a:t>
            </a:r>
            <a:r>
              <a:rPr lang="en-US" dirty="0" err="1">
                <a:ea typeface="+mn-lt"/>
                <a:cs typeface="+mn-lt"/>
              </a:rPr>
              <a:t>generiše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</a:t>
            </a:r>
            <a:r>
              <a:rPr lang="en-US" dirty="0">
                <a:ea typeface="+mn-lt"/>
                <a:cs typeface="+mn-lt"/>
              </a:rPr>
              <a:t> test </a:t>
            </a:r>
            <a:r>
              <a:rPr lang="en-US" dirty="0" err="1">
                <a:ea typeface="+mn-lt"/>
                <a:cs typeface="+mn-lt"/>
              </a:rPr>
              <a:t>skupa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podataka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837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99A6-0B48-702A-2C33-A25AE24A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PERFORMANSE MODELA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7758-38FF-E2C3-9E72-E21DB6EB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Performanse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zavise</a:t>
            </a:r>
            <a:r>
              <a:rPr lang="en-US" dirty="0">
                <a:ea typeface="+mn-lt"/>
                <a:cs typeface="+mn-lt"/>
              </a:rPr>
              <a:t> od: </a:t>
            </a:r>
            <a:r>
              <a:rPr lang="en-US" dirty="0" err="1">
                <a:ea typeface="+mn-lt"/>
                <a:cs typeface="+mn-lt"/>
              </a:rPr>
              <a:t>kvaliteta</a:t>
            </a:r>
            <a:r>
              <a:rPr lang="en-US" dirty="0">
                <a:ea typeface="+mn-lt"/>
                <a:cs typeface="+mn-lt"/>
              </a:rPr>
              <a:t> dataset-a, </a:t>
            </a:r>
            <a:r>
              <a:rPr lang="en-US" dirty="0" err="1">
                <a:ea typeface="+mn-lt"/>
                <a:cs typeface="+mn-lt"/>
              </a:rPr>
              <a:t>veličine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dirty="0" err="1">
                <a:ea typeface="+mn-lt"/>
                <a:cs typeface="+mn-lt"/>
              </a:rPr>
              <a:t>broja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epoha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 </a:t>
            </a:r>
            <a:r>
              <a:rPr lang="en-US" dirty="0" err="1">
                <a:ea typeface="+mn-lt"/>
                <a:cs typeface="+mn-lt"/>
              </a:rPr>
              <a:t>ovom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primeru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primećen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blagi</a:t>
            </a:r>
            <a:r>
              <a:rPr lang="en-US" dirty="0">
                <a:ea typeface="+mn-lt"/>
                <a:cs typeface="+mn-lt"/>
              </a:rPr>
              <a:t> overfitting </a:t>
            </a:r>
            <a:r>
              <a:rPr lang="en-US" dirty="0" err="1">
                <a:ea typeface="+mn-lt"/>
                <a:cs typeface="+mn-lt"/>
              </a:rPr>
              <a:t>nakon</a:t>
            </a:r>
            <a:r>
              <a:rPr lang="en-US" dirty="0">
                <a:ea typeface="+mn-lt"/>
                <a:cs typeface="+mn-lt"/>
              </a:rPr>
              <a:t> 12 </a:t>
            </a:r>
            <a:r>
              <a:rPr lang="en-US" dirty="0" err="1">
                <a:ea typeface="+mn-lt"/>
                <a:cs typeface="+mn-lt"/>
              </a:rPr>
              <a:t>epoha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Validaciona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val_mae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prestaje</a:t>
            </a:r>
            <a:r>
              <a:rPr lang="en-US" dirty="0">
                <a:ea typeface="+mn-lt"/>
                <a:cs typeface="+mn-lt"/>
              </a:rPr>
              <a:t> da se </a:t>
            </a:r>
            <a:r>
              <a:rPr lang="en-US" dirty="0" err="1">
                <a:ea typeface="+mn-lt"/>
                <a:cs typeface="+mn-lt"/>
              </a:rPr>
              <a:t>poboljšava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501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1D34-2D43-4D76-06AE-5E868AE2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OPIS TESTIRANJA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B473E-3D05-87AD-A05C-6D96DDE71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34" y="2105325"/>
            <a:ext cx="6573949" cy="4275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Praćenje</a:t>
            </a:r>
            <a:r>
              <a:rPr lang="en-US" dirty="0"/>
              <a:t> </a:t>
            </a:r>
            <a:r>
              <a:rPr lang="en-US" err="1"/>
              <a:t>metrike</a:t>
            </a:r>
            <a:r>
              <a:rPr lang="en-US"/>
              <a:t>: MSE, MAE I Validation loss</a:t>
            </a:r>
          </a:p>
          <a:p>
            <a:r>
              <a:rPr lang="en-US" dirty="0" err="1"/>
              <a:t>Treniranje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15 </a:t>
            </a:r>
            <a:r>
              <a:rPr lang="en-US" dirty="0" err="1"/>
              <a:t>epoha</a:t>
            </a:r>
            <a:endParaRPr lang="en-US" dirty="0"/>
          </a:p>
          <a:p>
            <a:r>
              <a:rPr lang="en-US" dirty="0"/>
              <a:t>Tok </a:t>
            </a:r>
            <a:r>
              <a:rPr lang="en-US" dirty="0" err="1"/>
              <a:t>testiranja</a:t>
            </a:r>
            <a:r>
              <a:rPr lang="en-US" dirty="0"/>
              <a:t>: 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-</a:t>
            </a:r>
            <a:r>
              <a:rPr lang="en-US" dirty="0">
                <a:ea typeface="+mn-lt"/>
                <a:cs typeface="+mn-lt"/>
              </a:rPr>
              <a:t>Treniranje </a:t>
            </a:r>
            <a:r>
              <a:rPr lang="en-US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kroz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epoha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 -</a:t>
            </a:r>
            <a:r>
              <a:rPr lang="en-US" dirty="0" err="1">
                <a:ea typeface="+mn-lt"/>
                <a:cs typeface="+mn-lt"/>
              </a:rPr>
              <a:t>Praćenje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ponašanja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validation </a:t>
            </a:r>
            <a:r>
              <a:rPr lang="en-US" dirty="0" err="1">
                <a:ea typeface="+mn-lt"/>
                <a:cs typeface="+mn-lt"/>
              </a:rPr>
              <a:t>skupu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  -</a:t>
            </a:r>
            <a:r>
              <a:rPr lang="en-US" dirty="0" err="1">
                <a:ea typeface="+mn-lt"/>
                <a:cs typeface="+mn-lt"/>
              </a:rPr>
              <a:t>Vizuelna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analiza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rezultata</a:t>
            </a:r>
            <a:endParaRPr lang="en-US" dirty="0" err="1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FF03A-6C91-26B2-A897-39B9CB4B0151}"/>
              </a:ext>
            </a:extLst>
          </p:cNvPr>
          <p:cNvSpPr txBox="1"/>
          <p:nvPr/>
        </p:nvSpPr>
        <p:spPr>
          <a:xfrm>
            <a:off x="7002161" y="2100648"/>
            <a:ext cx="558113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/>
              <a:t>Vizuelna</a:t>
            </a:r>
            <a:r>
              <a:rPr lang="en-US" sz="2400" dirty="0"/>
              <a:t> </a:t>
            </a:r>
            <a:r>
              <a:rPr lang="en-US" sz="2400" dirty="0" err="1"/>
              <a:t>provera</a:t>
            </a:r>
            <a:r>
              <a:rPr lang="en-US" sz="2400" dirty="0"/>
              <a:t>: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     - </a:t>
            </a:r>
            <a:r>
              <a:rPr lang="en-US" sz="2400" dirty="0" err="1">
                <a:ea typeface="+mn-lt"/>
                <a:cs typeface="+mn-lt"/>
              </a:rPr>
              <a:t>Iscrtavanje</a:t>
            </a:r>
            <a:r>
              <a:rPr lang="en-US" sz="2400" dirty="0">
                <a:ea typeface="+mn-lt"/>
                <a:cs typeface="+mn-lt"/>
              </a:rPr>
              <a:t> steering angle </a:t>
            </a:r>
            <a:r>
              <a:rPr lang="en-US" sz="2400" dirty="0" err="1">
                <a:ea typeface="+mn-lt"/>
                <a:cs typeface="+mn-lt"/>
              </a:rPr>
              <a:t>linije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     - </a:t>
            </a:r>
            <a:r>
              <a:rPr lang="en-US" sz="2400" dirty="0" err="1">
                <a:ea typeface="+mn-lt"/>
                <a:cs typeface="+mn-lt"/>
              </a:rPr>
              <a:t>Generisanje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izlaznog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videa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     - Provera lane change </a:t>
            </a:r>
            <a:r>
              <a:rPr lang="en-US" sz="2400" dirty="0" err="1">
                <a:ea typeface="+mn-lt"/>
                <a:cs typeface="+mn-lt"/>
              </a:rPr>
              <a:t>upozorenja</a:t>
            </a:r>
            <a:endParaRPr lang="en-US" dirty="0" err="1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2113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5913-1C1A-A4A0-249E-1B20C64E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/>
              <a:t>REzultati</a:t>
            </a:r>
            <a:r>
              <a:rPr lang="en-US"/>
              <a:t> I </a:t>
            </a:r>
            <a:r>
              <a:rPr lang="en-US" err="1"/>
              <a:t>performanse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6B71-A173-3E30-9D8E-A75A221D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94" y="2249487"/>
            <a:ext cx="5210431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Model </a:t>
            </a:r>
            <a:r>
              <a:rPr lang="en-US" dirty="0" err="1">
                <a:ea typeface="+mn-lt"/>
                <a:cs typeface="+mn-lt"/>
              </a:rPr>
              <a:t>uspešno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kretanja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vozila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Steering angle </a:t>
            </a:r>
            <a:r>
              <a:rPr lang="en-US" dirty="0" err="1">
                <a:ea typeface="+mn-lt"/>
                <a:cs typeface="+mn-lt"/>
              </a:rPr>
              <a:t>prati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promene</a:t>
            </a:r>
            <a:r>
              <a:rPr lang="en-US" dirty="0">
                <a:ea typeface="+mn-lt"/>
                <a:cs typeface="+mn-lt"/>
              </a:rPr>
              <a:t> puta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Lane change </a:t>
            </a:r>
            <a:r>
              <a:rPr lang="en-US" dirty="0" err="1">
                <a:ea typeface="+mn-lt"/>
                <a:cs typeface="+mn-lt"/>
              </a:rPr>
              <a:t>detekcija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funkcioniše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sekvencom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predikcija</a:t>
            </a:r>
            <a:endParaRPr lang="en-US" dirty="0" err="1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567FD-A646-AAE8-FDB7-0C2BFEC0C6D4}"/>
              </a:ext>
            </a:extLst>
          </p:cNvPr>
          <p:cNvSpPr txBox="1"/>
          <p:nvPr/>
        </p:nvSpPr>
        <p:spPr>
          <a:xfrm>
            <a:off x="6188675" y="2100648"/>
            <a:ext cx="545756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Training loss </a:t>
            </a:r>
            <a:r>
              <a:rPr lang="en-US" sz="2400" dirty="0" err="1">
                <a:ea typeface="+mn-lt"/>
                <a:cs typeface="+mn-lt"/>
              </a:rPr>
              <a:t>opada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kroz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epohe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Validation loss se </a:t>
            </a:r>
            <a:r>
              <a:rPr lang="en-US" sz="2400" dirty="0" err="1">
                <a:ea typeface="+mn-lt"/>
                <a:cs typeface="+mn-lt"/>
              </a:rPr>
              <a:t>stabilizuje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nakon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više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epoha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Primećen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blag</a:t>
            </a:r>
            <a:r>
              <a:rPr lang="en-US" sz="2400" dirty="0">
                <a:ea typeface="+mn-lt"/>
                <a:cs typeface="+mn-lt"/>
              </a:rPr>
              <a:t> overfitting </a:t>
            </a:r>
            <a:r>
              <a:rPr lang="en-US" sz="2400" dirty="0" err="1">
                <a:ea typeface="+mn-lt"/>
                <a:cs typeface="+mn-lt"/>
              </a:rPr>
              <a:t>nakon</a:t>
            </a:r>
            <a:r>
              <a:rPr lang="en-US" sz="2400" dirty="0">
                <a:ea typeface="+mn-lt"/>
                <a:cs typeface="+mn-lt"/>
              </a:rPr>
              <a:t> ~12 </a:t>
            </a:r>
            <a:r>
              <a:rPr lang="en-US" sz="2400" dirty="0" err="1">
                <a:ea typeface="+mn-lt"/>
                <a:cs typeface="+mn-lt"/>
              </a:rPr>
              <a:t>epoha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Dropout </a:t>
            </a:r>
            <a:r>
              <a:rPr lang="en-US" sz="2400" dirty="0" err="1">
                <a:ea typeface="+mn-lt"/>
                <a:cs typeface="+mn-lt"/>
              </a:rPr>
              <a:t>korišćen</a:t>
            </a:r>
            <a:r>
              <a:rPr lang="en-US" sz="2400" dirty="0">
                <a:ea typeface="+mn-lt"/>
                <a:cs typeface="+mn-lt"/>
              </a:rPr>
              <a:t> za </a:t>
            </a:r>
            <a:r>
              <a:rPr lang="en-US" sz="2400" dirty="0" err="1">
                <a:ea typeface="+mn-lt"/>
                <a:cs typeface="+mn-lt"/>
              </a:rPr>
              <a:t>smanjenje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overfittinga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EarlyStopping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zaustavlja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nepotrebno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treniranje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Moving average smoothing </a:t>
            </a:r>
            <a:r>
              <a:rPr lang="en-US" sz="2400" dirty="0" err="1">
                <a:ea typeface="+mn-lt"/>
                <a:cs typeface="+mn-lt"/>
              </a:rPr>
              <a:t>smanjuje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šum</a:t>
            </a:r>
            <a:r>
              <a:rPr lang="en-US" sz="2400" dirty="0">
                <a:ea typeface="+mn-lt"/>
                <a:cs typeface="+mn-lt"/>
              </a:rPr>
              <a:t> u </a:t>
            </a:r>
            <a:r>
              <a:rPr lang="en-US" sz="2400" dirty="0" err="1">
                <a:ea typeface="+mn-lt"/>
                <a:cs typeface="+mn-lt"/>
              </a:rPr>
              <a:t>predikcijama</a:t>
            </a:r>
            <a:endParaRPr lang="en-US" dirty="0" err="1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5813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C587-547E-1D35-0913-8446E0F6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340528"/>
          </a:xfrm>
        </p:spPr>
        <p:txBody>
          <a:bodyPr/>
          <a:lstStyle/>
          <a:p>
            <a:pPr algn="ctr"/>
            <a:r>
              <a:rPr lang="sr-Latn-RS" dirty="0"/>
              <a:t>Output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DDEB8-27EA-EA30-D8CB-305A0A94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71" y="1006613"/>
            <a:ext cx="10523846" cy="1976284"/>
          </a:xfrm>
        </p:spPr>
        <p:txBody>
          <a:bodyPr/>
          <a:lstStyle/>
          <a:p>
            <a:r>
              <a:rPr lang="en-US" dirty="0" err="1"/>
              <a:t>Izgenerisan</a:t>
            </a:r>
            <a:r>
              <a:rPr lang="en-US" dirty="0"/>
              <a:t> </a:t>
            </a:r>
            <a:r>
              <a:rPr lang="sr-Latn-RS" dirty="0"/>
              <a:t>video output je dostupan na linku </a:t>
            </a:r>
            <a:r>
              <a:rPr lang="sr-Latn-RS" dirty="0">
                <a:hlinkClick r:id="rId2"/>
              </a:rPr>
              <a:t>https://drive.google.com/file/d/1y9eggug7QbPKou0hVWbTBR0KSBy1uIpD/view?usp=sharing</a:t>
            </a:r>
            <a:endParaRPr lang="sr-Latn-RS" dirty="0"/>
          </a:p>
          <a:p>
            <a:r>
              <a:rPr lang="sr-Latn-RS" dirty="0"/>
              <a:t>Slike outputa terminala su dostupne ispod i u narednim slajdovima: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94240-1DD3-9221-F8D9-C846BCA13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343" y="3660851"/>
            <a:ext cx="2181529" cy="657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142476-7E72-C465-1278-A447690A802E}"/>
              </a:ext>
            </a:extLst>
          </p:cNvPr>
          <p:cNvSpPr txBox="1"/>
          <p:nvPr/>
        </p:nvSpPr>
        <p:spPr>
          <a:xfrm>
            <a:off x="1875164" y="4318168"/>
            <a:ext cx="2755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Broj trening i test podataka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CFA1DA-B204-B611-A9C3-3928F3400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28" y="3290645"/>
            <a:ext cx="3365664" cy="18620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8FDE6D-9BC8-DD50-D5CD-1D63F522B0D3}"/>
              </a:ext>
            </a:extLst>
          </p:cNvPr>
          <p:cNvSpPr txBox="1"/>
          <p:nvPr/>
        </p:nvSpPr>
        <p:spPr>
          <a:xfrm>
            <a:off x="6855303" y="5184559"/>
            <a:ext cx="225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Slike, uglovi, sekvence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773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FD86-AB86-6594-6BFA-9C30551B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626" y="0"/>
            <a:ext cx="8377286" cy="710214"/>
          </a:xfrm>
        </p:spPr>
        <p:txBody>
          <a:bodyPr>
            <a:normAutofit/>
          </a:bodyPr>
          <a:lstStyle/>
          <a:p>
            <a:pPr algn="ctr"/>
            <a:r>
              <a:rPr lang="sr-Latn-RS" sz="3600" dirty="0"/>
              <a:t>Output modela i epoha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E1428-7F49-95AA-43D0-851C3E9A2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06" y="710214"/>
            <a:ext cx="4332302" cy="50489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2EF234-CBA3-A919-D33A-CCC109026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06" y="710214"/>
            <a:ext cx="6971930" cy="50489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7FA6B9-E182-FEB8-C658-21178308423C}"/>
              </a:ext>
            </a:extLst>
          </p:cNvPr>
          <p:cNvSpPr txBox="1"/>
          <p:nvPr/>
        </p:nvSpPr>
        <p:spPr>
          <a:xfrm>
            <a:off x="2050742" y="6295136"/>
            <a:ext cx="7342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/>
              <a:t>Malo lošiji rezultati jer je većina trenging podataka imala steering angle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48818-8CD5-E726-5870-EA9A5AD26A37}"/>
              </a:ext>
            </a:extLst>
          </p:cNvPr>
          <p:cNvSpPr txBox="1"/>
          <p:nvPr/>
        </p:nvSpPr>
        <p:spPr>
          <a:xfrm>
            <a:off x="1276339" y="5759205"/>
            <a:ext cx="264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CNN + LSTM model output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0565CE-900B-9FB0-6D6D-6E235E470079}"/>
              </a:ext>
            </a:extLst>
          </p:cNvPr>
          <p:cNvSpPr txBox="1"/>
          <p:nvPr/>
        </p:nvSpPr>
        <p:spPr>
          <a:xfrm>
            <a:off x="5903191" y="5741138"/>
            <a:ext cx="517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Output epoha i prosečne kvadratne i apsolutne greške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82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4AAD19-20E7-D578-B344-EDBB263CC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" y="2073065"/>
            <a:ext cx="12191999" cy="4178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F6337E-B52F-A7D0-0BCF-EFD4F1D4E43A}"/>
              </a:ext>
            </a:extLst>
          </p:cNvPr>
          <p:cNvSpPr txBox="1"/>
          <p:nvPr/>
        </p:nvSpPr>
        <p:spPr>
          <a:xfrm>
            <a:off x="288323" y="1009135"/>
            <a:ext cx="99471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MSE I MAE </a:t>
            </a:r>
            <a:r>
              <a:rPr lang="en-US" sz="2400" dirty="0" err="1"/>
              <a:t>kroz</a:t>
            </a:r>
            <a:r>
              <a:rPr lang="en-US" sz="2400" dirty="0"/>
              <a:t> </a:t>
            </a:r>
            <a:r>
              <a:rPr lang="en-US" sz="2400" dirty="0" err="1"/>
              <a:t>epohe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25797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894</Words>
  <Application>Microsoft Office PowerPoint</Application>
  <PresentationFormat>Widescreen</PresentationFormat>
  <Paragraphs>137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Circuit</vt:lpstr>
      <vt:lpstr>Dubuko ucenje - projekat </vt:lpstr>
      <vt:lpstr>PowerPoint Presentation</vt:lpstr>
      <vt:lpstr>Dataset</vt:lpstr>
      <vt:lpstr>ObRADA PODATAKA</vt:lpstr>
      <vt:lpstr>PowerPoint Presentation</vt:lpstr>
      <vt:lpstr>SEKVENCE SLIKA</vt:lpstr>
      <vt:lpstr>CNN + LSTM arhitektura</vt:lpstr>
      <vt:lpstr>Model</vt:lpstr>
      <vt:lpstr> MODEL</vt:lpstr>
      <vt:lpstr>Određivanje ugla upravljanja</vt:lpstr>
      <vt:lpstr>Detekcija promene trake</vt:lpstr>
      <vt:lpstr>DETEKCIJA PROMENE TRAKE</vt:lpstr>
      <vt:lpstr>GENERISANJE VIDEO SNIMKA</vt:lpstr>
      <vt:lpstr>PERFORMANSE MODELA</vt:lpstr>
      <vt:lpstr>OPIS TESTIRANJA</vt:lpstr>
      <vt:lpstr>REzultati I performanse</vt:lpstr>
      <vt:lpstr>Output</vt:lpstr>
      <vt:lpstr>Output modela i epoha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Glintic</dc:creator>
  <cp:lastModifiedBy>Jovan Glintic</cp:lastModifiedBy>
  <cp:revision>376</cp:revision>
  <dcterms:created xsi:type="dcterms:W3CDTF">2026-03-06T19:48:03Z</dcterms:created>
  <dcterms:modified xsi:type="dcterms:W3CDTF">2026-05-17T20:17:19Z</dcterms:modified>
</cp:coreProperties>
</file>